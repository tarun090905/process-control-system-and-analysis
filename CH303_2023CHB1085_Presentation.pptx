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authors.xml" ContentType="application/vnd.ms-powerpoint.author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82" r:id="rId5"/>
    <p:sldId id="275" r:id="rId6"/>
    <p:sldId id="281" r:id="rId7"/>
    <p:sldId id="278" r:id="rId8"/>
    <p:sldId id="289" r:id="rId9"/>
    <p:sldId id="277" r:id="rId10"/>
    <p:sldId id="279" r:id="rId11"/>
    <p:sldId id="283" r:id="rId12"/>
    <p:sldId id="286" r:id="rId13"/>
    <p:sldId id="284" r:id="rId14"/>
    <p:sldId id="285" r:id="rId15"/>
    <p:sldId id="287" r:id="rId16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BEB2"/>
    <a:srgbClr val="753F2D"/>
    <a:srgbClr val="5E3324"/>
    <a:srgbClr val="8A4C34"/>
    <a:srgbClr val="815550"/>
    <a:srgbClr val="A3573E"/>
    <a:srgbClr val="E7E6E6"/>
    <a:srgbClr val="C28D6D"/>
    <a:srgbClr val="D2986F"/>
    <a:srgbClr val="333B3C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782"/>
    <p:restoredTop sz="96327"/>
  </p:normalViewPr>
  <p:slideViewPr>
    <p:cSldViewPr snapToGrid="0">
      <p:cViewPr>
        <p:scale>
          <a:sx n="50" d="100"/>
          <a:sy n="50" d="100"/>
        </p:scale>
        <p:origin x="-1344" y="-396"/>
      </p:cViewPr>
      <p:guideLst>
        <p:guide orient="horz" pos="1224"/>
        <p:guide orient="horz" pos="2856"/>
        <p:guide orient="horz" pos="264"/>
        <p:guide orient="horz" pos="1584"/>
        <p:guide orient="horz" pos="2736"/>
        <p:guide orient="horz" pos="3648"/>
        <p:guide orient="horz" pos="864"/>
        <p:guide orient="horz" pos="3984"/>
        <p:guide pos="7368"/>
        <p:guide pos="312"/>
        <p:guide pos="5928"/>
        <p:guide pos="6168"/>
        <p:guide pos="1512"/>
        <p:guide pos="2496"/>
        <p:guide pos="2688"/>
        <p:guide pos="45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78B30D67-EB7C-4323-A6AB-20071C4FCC2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B26DD94-0E47-FE33-5C0F-9E497B99BE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3F7E-3633-4FA3-974D-CA21FB24834F}" type="datetimeFigureOut">
              <a:rPr lang="en-US" smtClean="0"/>
              <a:pPr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36FF0-1B83-FCD7-197D-6F6CBEA8FE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AA88305-7C09-5A95-A84B-C7CEA8D00F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82836-E43C-41FF-A11B-3D8AB6E68FC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00981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pPr/>
              <a:t>11/29/2025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=""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pPr/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xmlns="" val="2032439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="" xmlns:p14="http://schemas.microsoft.com/office/powerpoint/2010/main" val="2032439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pPr/>
              <a:t>6</a:t>
            </a:fld>
            <a:endParaRPr lang="en-US" noProof="0"/>
          </a:p>
        </p:txBody>
      </p:sp>
    </p:spTree>
    <p:extLst>
      <p:ext uri="{BB962C8B-B14F-4D97-AF65-F5344CB8AC3E}">
        <p14:creationId xmlns="" xmlns:p14="http://schemas.microsoft.com/office/powerpoint/2010/main" val="1673130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x-non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=""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=""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=""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=""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=""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=""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=""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=""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=""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=""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=""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=""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=""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noProof="0"/>
              <a:t>Click to edit Master title style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=""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=""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=""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dirty="0"/>
              <a:t>Click to edit Master title style</a:t>
            </a:r>
            <a:endParaRPr lang="x-none" dirty="0"/>
          </a:p>
        </p:txBody>
      </p:sp>
      <p:sp>
        <p:nvSpPr>
          <p:cNvPr id="12" name="Text Placeholder 10">
            <a:extLst>
              <a:ext uri="{FF2B5EF4-FFF2-40B4-BE49-F238E27FC236}">
                <a16:creationId xmlns=""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=""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=""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=""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=""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=""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=""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=""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=""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=""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=""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=""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=""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=""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6C28C00-D101-DFF8-7E0A-1AEBF0DBE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4964B432-06C2-E932-E96F-67CECC2E9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=""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C6493B1-79A4-1FA9-B462-853856DE8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=""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4464F27-6C3B-1E36-B1DC-ECB72DCF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=""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x-non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=""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39500" y="0"/>
            <a:ext cx="9525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2877659" y="1206825"/>
            <a:ext cx="86797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 smtClean="0">
                <a:solidFill>
                  <a:schemeClr val="accent5">
                    <a:lumMod val="10000"/>
                  </a:schemeClr>
                </a:solidFill>
                <a:latin typeface="Algerian" pitchFamily="82" charset="0"/>
              </a:rPr>
              <a:t>Blending Process</a:t>
            </a:r>
            <a:endParaRPr lang="en-US" sz="5400" dirty="0">
              <a:solidFill>
                <a:schemeClr val="accent5">
                  <a:lumMod val="10000"/>
                </a:schemeClr>
              </a:solidFill>
              <a:latin typeface="Algerian" pitchFamily="82" charset="0"/>
            </a:endParaRP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4"/>
          <a:srcRect l="2714" t="43998" r="1583"/>
          <a:stretch>
            <a:fillRect/>
          </a:stretch>
        </p:blipFill>
        <p:spPr bwMode="auto">
          <a:xfrm rot="5400000">
            <a:off x="-3091724" y="3331560"/>
            <a:ext cx="6872989" cy="20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4990" y="0"/>
            <a:ext cx="38974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TextBox 14"/>
          <p:cNvSpPr txBox="1"/>
          <p:nvPr/>
        </p:nvSpPr>
        <p:spPr>
          <a:xfrm>
            <a:off x="2596462" y="2982652"/>
            <a:ext cx="6682449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latin typeface="Comic Sans MS" pitchFamily="66" charset="0"/>
              </a:rPr>
              <a:t>Presented To</a:t>
            </a:r>
          </a:p>
          <a:p>
            <a:pPr algn="ctr"/>
            <a:r>
              <a:rPr lang="en-US" sz="2200" b="1" dirty="0" smtClean="0">
                <a:latin typeface="Comic Sans MS" pitchFamily="66" charset="0"/>
              </a:rPr>
              <a:t>Dr. </a:t>
            </a:r>
            <a:r>
              <a:rPr lang="en-US" sz="2200" b="1" dirty="0" err="1" smtClean="0">
                <a:latin typeface="Comic Sans MS" pitchFamily="66" charset="0"/>
              </a:rPr>
              <a:t>Jayaram</a:t>
            </a:r>
            <a:r>
              <a:rPr lang="en-US" sz="2200" b="1" dirty="0" smtClean="0">
                <a:latin typeface="Comic Sans MS" pitchFamily="66" charset="0"/>
              </a:rPr>
              <a:t> </a:t>
            </a:r>
            <a:r>
              <a:rPr lang="en-US" sz="2200" b="1" dirty="0" err="1" smtClean="0">
                <a:latin typeface="Comic Sans MS" pitchFamily="66" charset="0"/>
              </a:rPr>
              <a:t>Valluru</a:t>
            </a:r>
            <a:endParaRPr lang="en-US" sz="2200" b="1" dirty="0" smtClean="0">
              <a:latin typeface="Comic Sans MS" pitchFamily="66" charset="0"/>
            </a:endParaRPr>
          </a:p>
          <a:p>
            <a:pPr algn="ctr"/>
            <a:r>
              <a:rPr lang="en-US" dirty="0" smtClean="0">
                <a:latin typeface="Comic Sans MS" pitchFamily="66" charset="0"/>
              </a:rPr>
              <a:t>Chemical Engineering, IIT-</a:t>
            </a:r>
            <a:r>
              <a:rPr lang="en-US" dirty="0" err="1" smtClean="0">
                <a:latin typeface="Comic Sans MS" pitchFamily="66" charset="0"/>
              </a:rPr>
              <a:t>Ropar</a:t>
            </a:r>
            <a:endParaRPr lang="en-US" dirty="0" smtClean="0">
              <a:latin typeface="Comic Sans MS" pitchFamily="66" charset="0"/>
            </a:endParaRPr>
          </a:p>
          <a:p>
            <a:pPr algn="ctr"/>
            <a:endParaRPr lang="en-US" sz="2200" b="1" dirty="0" smtClean="0">
              <a:latin typeface="Comic Sans MS" pitchFamily="66" charset="0"/>
            </a:endParaRPr>
          </a:p>
          <a:p>
            <a:pPr algn="ctr"/>
            <a:r>
              <a:rPr lang="en-US" dirty="0" smtClean="0">
                <a:latin typeface="Comic Sans MS" pitchFamily="66" charset="0"/>
              </a:rPr>
              <a:t>Course Code: CH-303</a:t>
            </a:r>
          </a:p>
          <a:p>
            <a:pPr algn="ctr"/>
            <a:r>
              <a:rPr lang="en-US" dirty="0" smtClean="0">
                <a:latin typeface="Comic Sans MS" pitchFamily="66" charset="0"/>
              </a:rPr>
              <a:t>Process Control</a:t>
            </a:r>
          </a:p>
          <a:p>
            <a:pPr algn="ctr"/>
            <a:endParaRPr lang="en-US" dirty="0" smtClean="0">
              <a:latin typeface="Comic Sans MS" pitchFamily="66" charset="0"/>
            </a:endParaRPr>
          </a:p>
          <a:p>
            <a:pPr algn="ctr"/>
            <a:endParaRPr lang="en-US" dirty="0" smtClean="0">
              <a:latin typeface="Comic Sans MS" pitchFamily="66" charset="0"/>
            </a:endParaRPr>
          </a:p>
          <a:p>
            <a:pPr algn="ctr"/>
            <a:r>
              <a:rPr lang="en-US" dirty="0" smtClean="0">
                <a:latin typeface="Comic Sans MS" pitchFamily="66" charset="0"/>
              </a:rPr>
              <a:t>Presented by</a:t>
            </a:r>
          </a:p>
          <a:p>
            <a:pPr algn="ctr"/>
            <a:r>
              <a:rPr lang="en-US" sz="1900" b="1" dirty="0" err="1" smtClean="0">
                <a:latin typeface="Comic Sans MS" pitchFamily="66" charset="0"/>
              </a:rPr>
              <a:t>Tarun</a:t>
            </a:r>
            <a:r>
              <a:rPr lang="en-US" sz="1900" b="1" dirty="0" smtClean="0">
                <a:latin typeface="Comic Sans MS" pitchFamily="66" charset="0"/>
              </a:rPr>
              <a:t> </a:t>
            </a:r>
            <a:r>
              <a:rPr lang="en-US" sz="1900" b="1" dirty="0" err="1" smtClean="0">
                <a:latin typeface="Comic Sans MS" pitchFamily="66" charset="0"/>
              </a:rPr>
              <a:t>Kumawat</a:t>
            </a:r>
            <a:endParaRPr lang="en-US" sz="1900" b="1" dirty="0" smtClean="0">
              <a:latin typeface="Comic Sans MS" pitchFamily="66" charset="0"/>
            </a:endParaRPr>
          </a:p>
          <a:p>
            <a:pPr algn="ctr"/>
            <a:r>
              <a:rPr lang="en-US" sz="1900" b="1" dirty="0" smtClean="0">
                <a:latin typeface="Comic Sans MS" pitchFamily="66" charset="0"/>
              </a:rPr>
              <a:t>2023CHB1085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8519" y="6122908"/>
            <a:ext cx="392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Date: 29/11/2025</a:t>
            </a:r>
          </a:p>
        </p:txBody>
      </p:sp>
    </p:spTree>
    <p:extLst>
      <p:ext uri="{BB962C8B-B14F-4D97-AF65-F5344CB8AC3E}">
        <p14:creationId xmlns:p14="http://schemas.microsoft.com/office/powerpoint/2010/main" xmlns="" val="355179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239500" y="0"/>
            <a:ext cx="952500" cy="100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 r="1583"/>
          <a:stretch>
            <a:fillRect/>
          </a:stretch>
        </p:blipFill>
        <p:spPr bwMode="auto">
          <a:xfrm>
            <a:off x="313899" y="1121508"/>
            <a:ext cx="11878101" cy="5571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74910" y="2191366"/>
            <a:ext cx="11157447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14148" y="292426"/>
            <a:ext cx="849987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 smtClean="0">
                <a:solidFill>
                  <a:schemeClr val="accent5">
                    <a:lumMod val="10000"/>
                  </a:schemeClr>
                </a:solidFill>
                <a:latin typeface="Algerian" pitchFamily="82" charset="0"/>
              </a:rPr>
              <a:t>Blending Process</a:t>
            </a:r>
            <a:endParaRPr lang="en-US" sz="5000" dirty="0">
              <a:solidFill>
                <a:schemeClr val="accent5">
                  <a:lumMod val="10000"/>
                </a:schemeClr>
              </a:solidFill>
              <a:latin typeface="Algerian" pitchFamily="8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146" y="1791889"/>
            <a:ext cx="11577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The blending process involves the uniform mixing of two or more substances without creating a chemical reaction to produce a final product with desired qualities, like gasoline or cosmetics.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2771" y="2817761"/>
            <a:ext cx="11095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In this system, two feed streams are combined in a well-mixed tank to produce an outlet stream with a controlled composition. </a:t>
            </a:r>
          </a:p>
          <a:p>
            <a:r>
              <a:rPr lang="en-US" dirty="0" smtClean="0">
                <a:latin typeface="Comic Sans MS" pitchFamily="66" charset="0"/>
              </a:rPr>
              <a:t>One feed stream is a mixture of two chemical species, while the other is pure component A.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02771" y="4198893"/>
            <a:ext cx="1109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The primary objective is to regulate the mass fraction of component A in the outlet by adjusting the flow rate of pure A, compensating for disturbances in the composition of the mixed feed.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02772" y="5221099"/>
            <a:ext cx="110956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Because streams can fluctuate in both composition and flow rate, maintaining a consistent product quality requires precise adjustment of the manipulated variables.</a:t>
            </a:r>
          </a:p>
          <a:p>
            <a:r>
              <a:rPr lang="en-US" dirty="0" smtClean="0">
                <a:latin typeface="Comic Sans MS" pitchFamily="66" charset="0"/>
              </a:rPr>
              <a:t>A core challenge is handling disturbances—especially changes in the inlet composition—by manipulating the flow rate of the pure component via a control valve.</a:t>
            </a:r>
            <a:endParaRPr lang="en-US" dirty="0">
              <a:latin typeface="Comic Sans MS" pitchFamily="66" charset="0"/>
            </a:endParaRPr>
          </a:p>
        </p:txBody>
      </p:sp>
      <p:pic>
        <p:nvPicPr>
          <p:cNvPr id="25" name="Picture 3"/>
          <p:cNvPicPr>
            <a:picLocks noChangeAspect="1" noChangeArrowheads="1"/>
          </p:cNvPicPr>
          <p:nvPr/>
        </p:nvPicPr>
        <p:blipFill>
          <a:blip r:embed="rId4"/>
          <a:srcRect l="2714" t="43998" r="1583"/>
          <a:stretch>
            <a:fillRect/>
          </a:stretch>
        </p:blipFill>
        <p:spPr bwMode="auto">
          <a:xfrm rot="5400000">
            <a:off x="-3091724" y="3331560"/>
            <a:ext cx="6872989" cy="209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14990" y="0"/>
            <a:ext cx="389743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55179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2" y="323787"/>
            <a:ext cx="4822935" cy="575321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Objective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21699"/>
            <a:ext cx="12192001" cy="203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59096" y="-1"/>
            <a:ext cx="78202" cy="15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1647356" y="1214205"/>
            <a:ext cx="89942" cy="610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74755" y="1686958"/>
            <a:ext cx="32978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Identify and classify all process variables, including controlled, manipulated, and disturbance variables.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2009" y="1689455"/>
            <a:ext cx="330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Simulate the nonlinear dynamic model to determine the system's steady-state and dynamic response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74774" y="1689455"/>
            <a:ext cx="45674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Perform open-loop dynamic simulations and analyze the system’s response to step changes in the manipulated input. Determine the process gain and time constant.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9111" y="4132856"/>
            <a:ext cx="42272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Linearize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the nonlinear model about the steady-state to develop a linear state-space model. Convert the linear state-space model into transfer function form for further control system analysis.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40259" y="4195813"/>
            <a:ext cx="42076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Perform stability analysis based on the poles and zeros of the derived transfer function, confirming the stability of the open-loop system.</a:t>
            </a:r>
          </a:p>
        </p:txBody>
      </p:sp>
    </p:spTree>
    <p:extLst>
      <p:ext uri="{BB962C8B-B14F-4D97-AF65-F5344CB8AC3E}">
        <p14:creationId xmlns="" xmlns:p14="http://schemas.microsoft.com/office/powerpoint/2010/main" val="90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50898" y="4231338"/>
            <a:ext cx="1857792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28480" y="2652852"/>
            <a:ext cx="6213312" cy="34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5056666" y="1993675"/>
            <a:ext cx="20486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time constant (τ)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omic Sans MS" pitchFamily="66" charset="0"/>
            </a:endParaRPr>
          </a:p>
        </p:txBody>
      </p:sp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/>
          <a:srcRect l="55319"/>
          <a:stretch>
            <a:fillRect/>
          </a:stretch>
        </p:blipFill>
        <p:spPr bwMode="auto">
          <a:xfrm>
            <a:off x="10942821" y="5258782"/>
            <a:ext cx="1129259" cy="662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8226814" y="5274475"/>
            <a:ext cx="2230731" cy="631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/>
          <a:srcRect l="4115"/>
          <a:stretch>
            <a:fillRect/>
          </a:stretch>
        </p:blipFill>
        <p:spPr bwMode="auto">
          <a:xfrm>
            <a:off x="8124669" y="6080585"/>
            <a:ext cx="4067332" cy="7699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0622822" y="5328814"/>
            <a:ext cx="3238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8112437" y="0"/>
            <a:ext cx="36957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115482" y="801089"/>
            <a:ext cx="32099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8115248" y="1353617"/>
            <a:ext cx="1981200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-1" y="-1"/>
            <a:ext cx="8109679" cy="66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179880" y="44973"/>
            <a:ext cx="73301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itchFamily="82" charset="0"/>
              </a:rPr>
              <a:t>NonLinear</a:t>
            </a:r>
            <a:r>
              <a:rPr lang="en-US" sz="3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itchFamily="82" charset="0"/>
              </a:rPr>
              <a:t> v/s Linear Dynamic Model</a:t>
            </a:r>
            <a:endParaRPr lang="en-US" sz="3000" dirty="0">
              <a:solidFill>
                <a:schemeClr val="accent3">
                  <a:lumMod val="60000"/>
                  <a:lumOff val="40000"/>
                </a:schemeClr>
              </a:solidFill>
              <a:latin typeface="Algerian" pitchFamily="82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81675" y="4769360"/>
            <a:ext cx="2375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Linearized</a:t>
            </a: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Dynamic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4633" y="1274167"/>
            <a:ext cx="1334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0.5714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99802" y="1888766"/>
            <a:ext cx="1723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mic Sans MS" pitchFamily="66" charset="0"/>
              </a:rPr>
              <a:t>Steady State Composition</a:t>
            </a:r>
            <a:endParaRPr lang="en-US" sz="1600" dirty="0">
              <a:latin typeface="Comic Sans MS" pitchFamily="66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60680" y="1291657"/>
            <a:ext cx="1334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0.0006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595791" y="1966216"/>
            <a:ext cx="17238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latin typeface="Comic Sans MS" pitchFamily="66" charset="0"/>
              </a:rPr>
              <a:t>Process Gain</a:t>
            </a:r>
            <a:endParaRPr lang="en-US" sz="1600" dirty="0">
              <a:latin typeface="Comic Sans MS" pitchFamily="66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854192" y="2103609"/>
            <a:ext cx="240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Non-Linear Dynamic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1576" y="1279166"/>
            <a:ext cx="1703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1.29 min</a:t>
            </a:r>
            <a:endParaRPr lang="en-US" sz="2400" dirty="0">
              <a:latin typeface="Comic Sans MS" pitchFamily="66" charset="0"/>
            </a:endParaRPr>
          </a:p>
        </p:txBody>
      </p:sp>
      <p:pic>
        <p:nvPicPr>
          <p:cNvPr id="37" name="Picture 36" descr="Figure_3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1" y="3164834"/>
            <a:ext cx="8094689" cy="370815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7384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250898" y="4231338"/>
            <a:ext cx="1857792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28480" y="2652852"/>
            <a:ext cx="6213312" cy="345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" y="-1"/>
            <a:ext cx="8109679" cy="660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6" name="TextBox 25"/>
          <p:cNvSpPr txBox="1"/>
          <p:nvPr/>
        </p:nvSpPr>
        <p:spPr>
          <a:xfrm>
            <a:off x="179880" y="44973"/>
            <a:ext cx="73301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itchFamily="82" charset="0"/>
              </a:rPr>
              <a:t>NonLinear</a:t>
            </a:r>
            <a:r>
              <a:rPr lang="en-US" sz="3000" dirty="0" smtClean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itchFamily="82" charset="0"/>
              </a:rPr>
              <a:t> v/s Linear Dynamic Model</a:t>
            </a:r>
            <a:endParaRPr lang="en-US" sz="3000" dirty="0">
              <a:solidFill>
                <a:schemeClr val="accent3">
                  <a:lumMod val="60000"/>
                  <a:lumOff val="40000"/>
                </a:schemeClr>
              </a:solidFill>
              <a:latin typeface="Algerian" pitchFamily="8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9050" y="3085123"/>
            <a:ext cx="8039100" cy="3695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067801" y="2920207"/>
            <a:ext cx="3124200" cy="3937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7384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r="1533"/>
          <a:stretch>
            <a:fillRect/>
          </a:stretch>
        </p:blipFill>
        <p:spPr bwMode="auto">
          <a:xfrm>
            <a:off x="-1" y="6053949"/>
            <a:ext cx="12192001" cy="804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969" y="850667"/>
            <a:ext cx="12137053" cy="453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-1"/>
            <a:ext cx="12172020" cy="1019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/>
          <a:srcRect r="1572"/>
          <a:stretch>
            <a:fillRect/>
          </a:stretch>
        </p:blipFill>
        <p:spPr bwMode="auto">
          <a:xfrm rot="5400000">
            <a:off x="-3211644" y="3211644"/>
            <a:ext cx="6858001" cy="434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614151" y="187495"/>
            <a:ext cx="2818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>
                <a:solidFill>
                  <a:schemeClr val="accent5">
                    <a:lumMod val="10000"/>
                  </a:schemeClr>
                </a:solidFill>
                <a:latin typeface="Algerian" pitchFamily="82" charset="0"/>
              </a:rPr>
              <a:t>Linearized</a:t>
            </a:r>
            <a:endParaRPr lang="en-US" sz="3600" dirty="0">
              <a:solidFill>
                <a:schemeClr val="accent5">
                  <a:lumMod val="10000"/>
                </a:schemeClr>
              </a:solidFill>
              <a:latin typeface="Algerian" pitchFamily="82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147" y="1686953"/>
            <a:ext cx="115778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mic Sans MS" pitchFamily="66" charset="0"/>
              </a:rPr>
              <a:t>The </a:t>
            </a:r>
            <a:r>
              <a:rPr lang="en-US" dirty="0" err="1" smtClean="0">
                <a:latin typeface="Comic Sans MS" pitchFamily="66" charset="0"/>
              </a:rPr>
              <a:t>Jacobian</a:t>
            </a:r>
            <a:r>
              <a:rPr lang="en-US" dirty="0" smtClean="0">
                <a:latin typeface="Comic Sans MS" pitchFamily="66" charset="0"/>
              </a:rPr>
              <a:t> method is a mathematical technique used to </a:t>
            </a:r>
            <a:r>
              <a:rPr lang="en-US" dirty="0" err="1" smtClean="0">
                <a:latin typeface="Comic Sans MS" pitchFamily="66" charset="0"/>
              </a:rPr>
              <a:t>linearize</a:t>
            </a:r>
            <a:r>
              <a:rPr lang="en-US" dirty="0" smtClean="0">
                <a:latin typeface="Comic Sans MS" pitchFamily="66" charset="0"/>
              </a:rPr>
              <a:t> nonlinear dynamic systems around an equilibrium or steady-state point.</a:t>
            </a:r>
            <a:endParaRPr lang="en-US" dirty="0">
              <a:latin typeface="Comic Sans MS" pitchFamily="66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63650" y="3669406"/>
            <a:ext cx="4407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 = ∂(f)/∂x</a:t>
            </a:r>
          </a:p>
          <a:p>
            <a:r>
              <a:rPr lang="en-US" dirty="0" smtClean="0"/>
              <a:t>B1 = ∂(f)/∂w2 (manipulated variable)</a:t>
            </a:r>
          </a:p>
          <a:p>
            <a:r>
              <a:rPr lang="en-US" dirty="0" smtClean="0"/>
              <a:t>B2 = ∂(f)/∂x1 (disturbance variable)</a:t>
            </a: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00661" y="2266616"/>
            <a:ext cx="11491339" cy="47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2" name="TextBox 21"/>
          <p:cNvSpPr txBox="1"/>
          <p:nvPr/>
        </p:nvSpPr>
        <p:spPr>
          <a:xfrm>
            <a:off x="1993243" y="2758753"/>
            <a:ext cx="6581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latin typeface="Comic Sans MS" pitchFamily="66" charset="0"/>
              </a:rPr>
              <a:t>f = dx/dt = (1/(rho*V))*(w1*(x1 - x) + w2*(x2 - x))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2383" y="5080044"/>
            <a:ext cx="35381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 smtClean="0">
                <a:latin typeface="Comic Sans MS" pitchFamily="66" charset="0"/>
              </a:rPr>
              <a:t>A = -(w1 + w2)/(rho * V0);</a:t>
            </a:r>
          </a:p>
          <a:p>
            <a:r>
              <a:rPr lang="pl-PL" dirty="0" smtClean="0">
                <a:latin typeface="Comic Sans MS" pitchFamily="66" charset="0"/>
              </a:rPr>
              <a:t>V1 = (x2 - x0)/(rho * V0);</a:t>
            </a:r>
          </a:p>
          <a:p>
            <a:r>
              <a:rPr lang="pl-PL" dirty="0" smtClean="0">
                <a:latin typeface="Comic Sans MS" pitchFamily="66" charset="0"/>
              </a:rPr>
              <a:t>V2 = w1/(rho * V0);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339013" y="3857624"/>
            <a:ext cx="4105593" cy="183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3979194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99361" y="247455"/>
            <a:ext cx="28335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accent5">
                    <a:lumMod val="10000"/>
                  </a:schemeClr>
                </a:solidFill>
                <a:latin typeface="Algerian" pitchFamily="82" charset="0"/>
              </a:rPr>
              <a:t>Transfer </a:t>
            </a:r>
            <a:endParaRPr lang="en-US" sz="3600" dirty="0" smtClean="0">
              <a:solidFill>
                <a:schemeClr val="bg2">
                  <a:lumMod val="10000"/>
                </a:schemeClr>
              </a:solidFill>
              <a:latin typeface="Algerian" pitchFamily="82" charset="0"/>
            </a:endParaRPr>
          </a:p>
          <a:p>
            <a:pPr algn="ctr"/>
            <a:r>
              <a:rPr lang="en-US" sz="3600" dirty="0" smtClean="0">
                <a:solidFill>
                  <a:schemeClr val="bg2">
                    <a:lumMod val="10000"/>
                  </a:schemeClr>
                </a:solidFill>
                <a:latin typeface="Algerian" pitchFamily="82" charset="0"/>
              </a:rPr>
              <a:t>Function</a:t>
            </a:r>
            <a:endParaRPr lang="en-US" sz="3600" dirty="0">
              <a:solidFill>
                <a:schemeClr val="bg2">
                  <a:lumMod val="10000"/>
                </a:schemeClr>
              </a:solidFill>
              <a:latin typeface="Algerian" pitchFamily="82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5371" y="0"/>
            <a:ext cx="18379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 t="43475"/>
          <a:stretch>
            <a:fillRect/>
          </a:stretch>
        </p:blipFill>
        <p:spPr bwMode="auto">
          <a:xfrm>
            <a:off x="0" y="1469032"/>
            <a:ext cx="4811313" cy="299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4171" y="2001707"/>
            <a:ext cx="638175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183463"/>
            <a:ext cx="3282846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TextBox 18"/>
          <p:cNvSpPr txBox="1"/>
          <p:nvPr/>
        </p:nvSpPr>
        <p:spPr>
          <a:xfrm>
            <a:off x="3422302" y="322854"/>
            <a:ext cx="85448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The transfer function for the </a:t>
            </a:r>
            <a:r>
              <a:rPr lang="en-US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linearized</a:t>
            </a:r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 blending process between the manipulated input </a:t>
            </a:r>
            <a:r>
              <a:rPr lang="en-US" dirty="0" err="1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flowrate</a:t>
            </a:r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 (w2) , fraction composition (x1) and the controlled output composition (x) is: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92322" y="2933644"/>
            <a:ext cx="87996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Pole: The denominator root is at s=−0.7778.</a:t>
            </a:r>
          </a:p>
          <a:p>
            <a:endParaRPr lang="en-US" dirty="0" smtClean="0">
              <a:solidFill>
                <a:schemeClr val="accent1">
                  <a:lumMod val="20000"/>
                  <a:lumOff val="80000"/>
                </a:schemeClr>
              </a:solidFill>
              <a:latin typeface="Comic Sans MS" pitchFamily="66" charset="0"/>
            </a:endParaRPr>
          </a:p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Pole indicating infinite response or instability, and they determine a system's dynamic behavior and stability.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77333" y="4342714"/>
            <a:ext cx="85848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Poles with negative real components (left half) correspond to a stable system that will eventually settle. </a:t>
            </a:r>
          </a:p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Poles with positive real components (right half) indicate an unstable system that will grow without bound. </a:t>
            </a:r>
          </a:p>
          <a:p>
            <a:endParaRPr lang="en-US" dirty="0" smtClean="0">
              <a:solidFill>
                <a:schemeClr val="accent1">
                  <a:lumMod val="20000"/>
                  <a:lumOff val="8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07311" y="5709819"/>
            <a:ext cx="8934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accent1">
                    <a:lumMod val="20000"/>
                    <a:lumOff val="80000"/>
                  </a:schemeClr>
                </a:solidFill>
                <a:latin typeface="Comic Sans MS" pitchFamily="66" charset="0"/>
              </a:rPr>
              <a:t>For system stability, all poles must be negative (left half-plane); zeros do not affect stability but do influence the output response and transient behavior.</a:t>
            </a:r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97" y="1979874"/>
            <a:ext cx="9166740" cy="523483"/>
          </a:xfrm>
          <a:prstGeom prst="rect">
            <a:avLst/>
          </a:prstGeom>
        </p:spPr>
      </p:pic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4824" y="1996834"/>
            <a:ext cx="9096677" cy="530386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16355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2" y="323787"/>
            <a:ext cx="4822935" cy="575321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FOPTD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21699"/>
            <a:ext cx="12192001" cy="203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59096" y="-1"/>
            <a:ext cx="78202" cy="15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1647356" y="1214205"/>
            <a:ext cx="89942" cy="610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1368651" y="2633835"/>
            <a:ext cx="330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FOPTD with time delay 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5049" y="5227132"/>
            <a:ext cx="456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To convert PI → P: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	Keep same proportional gain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	Remove integral term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503" y="4987297"/>
            <a:ext cx="42272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λ (lambda) is the desired closed-loop time constant.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Smaller λ → faster response</a:t>
            </a:r>
            <a:b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</a:br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Larger λ → smoother, less aggressive controller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9301" y="2861687"/>
            <a:ext cx="42376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DS PI controller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56414" y="1668021"/>
            <a:ext cx="2257425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612327" y="4084794"/>
            <a:ext cx="20955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8112984" y="1639601"/>
            <a:ext cx="168592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9229596" y="4236647"/>
            <a:ext cx="23907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774909" y="4204716"/>
            <a:ext cx="31242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0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2" y="323787"/>
            <a:ext cx="4822935" cy="575321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FOPTD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21699"/>
            <a:ext cx="12192001" cy="203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59096" y="-1"/>
            <a:ext cx="78202" cy="15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1647356" y="1214205"/>
            <a:ext cx="89942" cy="610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1219200"/>
            <a:ext cx="6068026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07448" y="4038601"/>
            <a:ext cx="6151151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467600" y="1947863"/>
            <a:ext cx="3162300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0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2" y="323787"/>
            <a:ext cx="4822935" cy="575321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Close loop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21699"/>
            <a:ext cx="12192001" cy="203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59096" y="-1"/>
            <a:ext cx="78202" cy="15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1647356" y="1214205"/>
            <a:ext cx="89942" cy="610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903956" y="1524562"/>
            <a:ext cx="3308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e(t)=SP(t)−CV(t)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08531" y="3449739"/>
            <a:ext cx="7110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For the P Controller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   SP jumps → error jumps → proportional action also jumps.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   P controller output = 𝐾 𝑐 ⋅ 𝑒​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   CV never reaches SP.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758" y="1946786"/>
            <a:ext cx="33082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When you change SP, the error suddenly increases, so the controller output also changes.</a:t>
            </a:r>
            <a:endParaRPr lang="en-US" dirty="0">
              <a:solidFill>
                <a:schemeClr val="bg2">
                  <a:lumMod val="10000"/>
                </a:schemeClr>
              </a:solidFill>
              <a:latin typeface="Comic Sans MS" pitchFamily="66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672445" y="2526754"/>
            <a:ext cx="22860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TextBox 17"/>
          <p:cNvSpPr txBox="1"/>
          <p:nvPr/>
        </p:nvSpPr>
        <p:spPr>
          <a:xfrm>
            <a:off x="463932" y="5207648"/>
            <a:ext cx="71107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For the PI Controller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   SP jumps → error jumps → proportional action also jumps.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   P controller output = 𝐾 𝑐 ⋅ 𝑒​ = 0</a:t>
            </a:r>
          </a:p>
          <a:p>
            <a:r>
              <a:rPr lang="en-US" dirty="0" smtClean="0">
                <a:solidFill>
                  <a:schemeClr val="bg2">
                    <a:lumMod val="10000"/>
                  </a:schemeClr>
                </a:solidFill>
                <a:latin typeface="Comic Sans MS" pitchFamily="66" charset="0"/>
              </a:rPr>
              <a:t>    CV Slowly settles back to SP.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1033463" y="4500563"/>
            <a:ext cx="12477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0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2" y="323787"/>
            <a:ext cx="4822935" cy="575321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Close loop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21699"/>
            <a:ext cx="12192001" cy="203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59096" y="-1"/>
            <a:ext cx="78202" cy="15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1647356" y="1214205"/>
            <a:ext cx="89942" cy="610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" y="1352550"/>
            <a:ext cx="11487150" cy="2557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201" y="4141653"/>
            <a:ext cx="11468100" cy="2603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0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592" y="323787"/>
            <a:ext cx="4822935" cy="575321"/>
          </a:xfrm>
        </p:spPr>
        <p:txBody>
          <a:bodyPr/>
          <a:lstStyle/>
          <a:p>
            <a:r>
              <a:rPr lang="en-US" dirty="0" smtClean="0">
                <a:latin typeface="Algerian" pitchFamily="82" charset="0"/>
              </a:rPr>
              <a:t>Root locus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221699"/>
            <a:ext cx="12192001" cy="2031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659096" y="-1"/>
            <a:ext cx="78202" cy="1534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Rectangle 16"/>
          <p:cNvSpPr/>
          <p:nvPr/>
        </p:nvSpPr>
        <p:spPr>
          <a:xfrm>
            <a:off x="11647356" y="1214205"/>
            <a:ext cx="89942" cy="610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" y="1333500"/>
            <a:ext cx="11512562" cy="539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="" xmlns:p14="http://schemas.microsoft.com/office/powerpoint/2010/main" val="901526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roject_Status_Report_Win32_jx_v12" id="{5D6FBA16-B4D1-4307-B1D7-61285FA0D9C0}" vid="{1DA9E459-46CB-4408-AA4C-63950E2E54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1F98F7-6576-47F1-AD63-56E26C339747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783CE7D-BFC6-4030-A335-E7F88DB66414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B4CAA5-BE7A-46AB-97ED-63B24C46A3A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795</TotalTime>
  <Words>613</Words>
  <Application>Microsoft Office PowerPoint</Application>
  <PresentationFormat>Custom</PresentationFormat>
  <Paragraphs>81</Paragraphs>
  <Slides>12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Slide 1</vt:lpstr>
      <vt:lpstr>Slide 2</vt:lpstr>
      <vt:lpstr>Objective</vt:lpstr>
      <vt:lpstr>Slide 4</vt:lpstr>
      <vt:lpstr>Slide 5</vt:lpstr>
      <vt:lpstr>Slide 6</vt:lpstr>
      <vt:lpstr>Slide 7</vt:lpstr>
      <vt:lpstr>FOPTD</vt:lpstr>
      <vt:lpstr>FOPTD</vt:lpstr>
      <vt:lpstr>Close loop</vt:lpstr>
      <vt:lpstr>Close loop</vt:lpstr>
      <vt:lpstr>Root locus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SitaRam</dc:creator>
  <cp:lastModifiedBy>Amit</cp:lastModifiedBy>
  <cp:revision>10</cp:revision>
  <dcterms:created xsi:type="dcterms:W3CDTF">2025-06-22T09:40:27Z</dcterms:created>
  <dcterms:modified xsi:type="dcterms:W3CDTF">2025-11-29T08:58:32Z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